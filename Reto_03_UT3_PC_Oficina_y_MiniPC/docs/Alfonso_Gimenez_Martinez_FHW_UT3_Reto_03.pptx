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componentes.com/asrock-h610m-hvs-m2-r20?s_kwcid=AL!14405!3!!!!x!!&amp;gad_source=1&amp;gad_campaignid=22157318807&amp;gclid=CjwKCAiAwNDMBhBfEiwAd7ti1NOrIapzbvveJL2FOld2Yq7yXB83N2ynIT64TJameGn1Yxis-t4pexoCVKIQAvD_BwE" TargetMode="External"/><Relationship Id="rId7" Type="http://schemas.openxmlformats.org/officeDocument/2006/relationships/hyperlink" Target="https://www.pccomponentes.com/nox-hummer-mc-usb-30-negra?srsltid=AfmBOoo90xkzr4Qj1KZ4Jyl8CFdblg1I29gitrwqR6GWxtIfsVaMgxhY" TargetMode="External"/><Relationship Id="rId2" Type="http://schemas.openxmlformats.org/officeDocument/2006/relationships/hyperlink" Target="https://www.pccomponentes.com/intel-core-i3-14100f-35-47ghz-box?s_kwcid=AL!14405!3!!!!x!!&amp;gad_source=1&amp;gad_campaignid=22157318807&amp;gclid=CjwKCAiAwNDMBhBfEiwAd7ti1EfedmOUrR0GZ7o9KX_Gtz4OCSM1ywHikWvJA9hpBQ66qpsw5DSinhoCeK8QAvD_B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ccomponentes.com/corsair-cx750-750-w-80-plus-bronze?s_kwcid=AL!14405!3!!!!x!!&amp;gad_source=1&amp;gad_campaignid=22732311568&amp;gclid=CjwKCAiAwNDMBhBfEiwAd7ti1FNcKxBaT139VsB3GeFKnzt82_0de2JlABCmO1tgXxyIguyGAP4gPRoC_9UQAvD_BwE" TargetMode="External"/><Relationship Id="rId5" Type="http://schemas.openxmlformats.org/officeDocument/2006/relationships/hyperlink" Target="https://www.pccomponentes.com/silicon-power-p34a60-256gb-ssd-m2-pcie-gen3x4?s_kwcid=AL!14405!3!!!!x!!&amp;gad_source=1&amp;gad_campaignid=21438429839&amp;gclid=CjwKCAiAwNDMBhBfEiwAd7ti1Fp9yPSHWHYYawvkSXlmv1wF6Qj0X9QD0JaKTwrYCTUdoxTEOY9qFRoC3tgQAvD_BwE" TargetMode="External"/><Relationship Id="rId4" Type="http://schemas.openxmlformats.org/officeDocument/2006/relationships/hyperlink" Target="https://www.pccomponentes.com/kingston-fury-beast-ddr4-3200-mhz-16gb-2x8gb-cl16?s_kwcid=AL!14405!3!!!!x!!&amp;gad_source=1&amp;gad_campaignid=22732311568&amp;gclid=CjwKCAiAwNDMBhBfEiwAd7ti1G5Z49KzG-dIKlG0cd6DEG3tQwzvIYntNq4kLMwoiAEnLNVJE84PuhoCiTwQAvD_Bw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6AE94-FA8D-4E08-A8DD-BE2881B17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80" y="1691299"/>
            <a:ext cx="8637073" cy="747102"/>
          </a:xfrm>
        </p:spPr>
        <p:txBody>
          <a:bodyPr>
            <a:noAutofit/>
          </a:bodyPr>
          <a:lstStyle/>
          <a:p>
            <a:r>
              <a:rPr lang="es-ES" sz="3200" b="1" i="0" dirty="0">
                <a:effectLst/>
                <a:latin typeface="quote-cjk-patch"/>
              </a:rPr>
              <a:t>Alumno:</a:t>
            </a:r>
            <a:r>
              <a:rPr lang="es-ES" sz="3200" b="0" i="0" dirty="0">
                <a:effectLst/>
                <a:latin typeface="quote-cjk-patch"/>
              </a:rPr>
              <a:t> Alfonso Giménez Martínez</a:t>
            </a:r>
            <a:br>
              <a:rPr lang="es-ES" sz="3200" dirty="0"/>
            </a:br>
            <a:r>
              <a:rPr lang="es-ES" sz="3200" b="1" i="0" dirty="0">
                <a:effectLst/>
                <a:latin typeface="quote-cjk-patch"/>
              </a:rPr>
              <a:t>Grupo:</a:t>
            </a:r>
            <a:r>
              <a:rPr lang="es-ES" sz="3200" b="0" i="0" dirty="0">
                <a:effectLst/>
                <a:latin typeface="quote-cjk-patch"/>
              </a:rPr>
              <a:t> 1° ASIR</a:t>
            </a:r>
            <a:br>
              <a:rPr lang="es-ES" sz="3200" dirty="0"/>
            </a:br>
            <a:r>
              <a:rPr lang="es-ES" sz="3200" b="1" i="0" dirty="0">
                <a:effectLst/>
                <a:latin typeface="quote-cjk-patch"/>
              </a:rPr>
              <a:t>Fecha:</a:t>
            </a:r>
            <a:r>
              <a:rPr lang="es-ES" sz="3200" b="0" i="0" dirty="0">
                <a:effectLst/>
                <a:latin typeface="quote-cjk-patch"/>
              </a:rPr>
              <a:t> 17/02/2026</a:t>
            </a:r>
            <a:endParaRPr lang="es-ES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6CAC5A-07F3-43C6-8511-027F4D734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b="1" i="0" dirty="0">
                <a:effectLst/>
                <a:latin typeface="quote-cjk-patch"/>
              </a:rPr>
              <a:t>PC DE OFICINA LOW-COST + MINI PC</a:t>
            </a:r>
            <a:br>
              <a:rPr lang="es-ES" dirty="0"/>
            </a:br>
            <a:r>
              <a:rPr lang="es-ES" b="0" i="0" dirty="0">
                <a:effectLst/>
                <a:latin typeface="quote-cjk-patch"/>
              </a:rPr>
              <a:t>Reto 03 - Fundamentos de Hardware (FHW)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22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D22AE-F651-4927-BCC6-FD882E744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09786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s-ES" b="1" i="0" dirty="0">
                <a:effectLst/>
                <a:latin typeface="quote-cjk-patch"/>
              </a:rPr>
              <a:t>Objetivo principal:</a:t>
            </a:r>
            <a:br>
              <a:rPr lang="es-ES" dirty="0"/>
            </a:br>
            <a:r>
              <a:rPr lang="es-ES" b="0" i="0" dirty="0">
                <a:effectLst/>
                <a:latin typeface="quote-cjk-patch"/>
              </a:rPr>
              <a:t>Diseñar un PC de oficina low-cost y compararlo con un Mini PC comercial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EE5669-EB7E-4A49-9B76-BB3467B5C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b="1" i="0" dirty="0">
                <a:effectLst/>
                <a:latin typeface="quote-cjk-patch"/>
              </a:rPr>
              <a:t>Requisitos: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Oficina: tareas ofimáticas, precio ajustado y componentes razonables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Low-cost: presupuesto ajustado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Compatibilidad: todos los componentes deben encajar físicamente</a:t>
            </a:r>
          </a:p>
        </p:txBody>
      </p:sp>
    </p:spTree>
    <p:extLst>
      <p:ext uri="{BB962C8B-B14F-4D97-AF65-F5344CB8AC3E}">
        <p14:creationId xmlns:p14="http://schemas.microsoft.com/office/powerpoint/2010/main" val="405624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6CA4C-E35C-47CD-A3D2-6B0FE2432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629" y="787585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it-IT" b="1" i="0" dirty="0">
                <a:effectLst/>
                <a:latin typeface="quote-cjk-patch"/>
              </a:rPr>
              <a:t>Modelo:</a:t>
            </a:r>
            <a:r>
              <a:rPr lang="it-IT" b="0" i="0" dirty="0">
                <a:effectLst/>
                <a:latin typeface="quote-cjk-patch"/>
              </a:rPr>
              <a:t> Intel Core i3-14100</a:t>
            </a:r>
            <a:br>
              <a:rPr lang="it-IT" dirty="0"/>
            </a:br>
            <a:r>
              <a:rPr lang="it-IT" b="1" i="0" dirty="0">
                <a:effectLst/>
                <a:latin typeface="quote-cjk-patch"/>
              </a:rPr>
              <a:t>Precio:</a:t>
            </a:r>
            <a:r>
              <a:rPr lang="it-IT" b="0" i="0" dirty="0">
                <a:effectLst/>
                <a:latin typeface="quote-cjk-patch"/>
              </a:rPr>
              <a:t> 89.99 €</a:t>
            </a:r>
            <a:br>
              <a:rPr lang="it-IT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1C8C03-D15F-4C1F-82B8-D13D982F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066"/>
            <a:ext cx="9603275" cy="3598333"/>
          </a:xfrm>
        </p:spPr>
        <p:txBody>
          <a:bodyPr numCol="2">
            <a:normAutofit fontScale="92500" lnSpcReduction="20000"/>
          </a:bodyPr>
          <a:lstStyle/>
          <a:p>
            <a:pPr algn="l"/>
            <a:r>
              <a:rPr lang="es-ES" b="1" i="0" dirty="0">
                <a:effectLst/>
                <a:latin typeface="quote-cjk-patch"/>
              </a:rPr>
              <a:t>Características principales: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Núcleos: 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Hilos: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Temperatura máxima: 100 grados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Frecuencia: 3.5 </a:t>
            </a:r>
            <a:r>
              <a:rPr lang="es-ES" b="0" i="0" dirty="0" err="1">
                <a:effectLst/>
                <a:latin typeface="quote-cjk-patch"/>
              </a:rPr>
              <a:t>Ghz</a:t>
            </a:r>
            <a:r>
              <a:rPr lang="es-ES" b="0" i="0" dirty="0">
                <a:effectLst/>
                <a:latin typeface="quote-cjk-patch"/>
              </a:rPr>
              <a:t> - 4.7 </a:t>
            </a:r>
            <a:r>
              <a:rPr lang="es-ES" b="0" i="0" dirty="0" err="1">
                <a:effectLst/>
                <a:latin typeface="quote-cjk-patch"/>
              </a:rPr>
              <a:t>Ghz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Potencia base: 60 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Gráficos integrados: UHD </a:t>
            </a:r>
            <a:r>
              <a:rPr lang="es-ES" b="0" i="0" dirty="0" err="1">
                <a:effectLst/>
                <a:latin typeface="quote-cjk-patch"/>
              </a:rPr>
              <a:t>Graphics</a:t>
            </a:r>
            <a:r>
              <a:rPr lang="es-ES" b="0" i="0" dirty="0">
                <a:effectLst/>
                <a:latin typeface="quote-cjk-patch"/>
              </a:rPr>
              <a:t> 730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quote-cjk-patch"/>
              </a:rPr>
              <a:t>Importante: </a:t>
            </a:r>
            <a:r>
              <a:rPr lang="es-ES" b="0" i="0" dirty="0">
                <a:effectLst/>
                <a:latin typeface="quote-cjk-patch"/>
              </a:rPr>
              <a:t>socket soportado LGA1700 (compatible con placa base)</a:t>
            </a:r>
          </a:p>
          <a:p>
            <a:pPr algn="l"/>
            <a:r>
              <a:rPr lang="es-ES" b="1" i="0" dirty="0">
                <a:effectLst/>
                <a:latin typeface="quote-cjk-patch"/>
              </a:rPr>
              <a:t>Justificación (oficina):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Para un ordenador de oficina no es necesario tarjeta dedicada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Tareas tipo ofimática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Aunque es 14ª generación y se calienta un poco más, el precio es más barato por ese fallo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Se pueden ajustar los núcleos para forzar que no trabaje a tanta frecuencia y controlar temperaturas</a:t>
            </a:r>
          </a:p>
        </p:txBody>
      </p:sp>
    </p:spTree>
    <p:extLst>
      <p:ext uri="{BB962C8B-B14F-4D97-AF65-F5344CB8AC3E}">
        <p14:creationId xmlns:p14="http://schemas.microsoft.com/office/powerpoint/2010/main" val="37008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982DF-B4AE-4B49-850F-6E923155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712" y="457386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pt-BR" b="1" i="0" dirty="0">
                <a:effectLst/>
                <a:latin typeface="quote-cjk-patch"/>
              </a:rPr>
              <a:t>PLACA BASE</a:t>
            </a:r>
            <a:br>
              <a:rPr lang="pt-BR" b="0" i="0" dirty="0">
                <a:effectLst/>
                <a:latin typeface="quote-cjk-patch"/>
              </a:rPr>
            </a:br>
            <a:r>
              <a:rPr lang="pt-BR" b="1" i="0" dirty="0">
                <a:effectLst/>
                <a:latin typeface="quote-cjk-patch"/>
              </a:rPr>
              <a:t>Modelo:</a:t>
            </a:r>
            <a:r>
              <a:rPr lang="pt-BR" b="0" i="0" dirty="0">
                <a:effectLst/>
                <a:latin typeface="quote-cjk-patch"/>
              </a:rPr>
              <a:t> </a:t>
            </a:r>
            <a:r>
              <a:rPr lang="pt-BR" b="0" i="0" dirty="0" err="1">
                <a:effectLst/>
                <a:latin typeface="quote-cjk-patch"/>
              </a:rPr>
              <a:t>ASRock</a:t>
            </a:r>
            <a:r>
              <a:rPr lang="pt-BR" b="0" i="0" dirty="0">
                <a:effectLst/>
                <a:latin typeface="quote-cjk-patch"/>
              </a:rPr>
              <a:t> H610M-HVS</a:t>
            </a:r>
            <a:br>
              <a:rPr lang="pt-BR" b="0" i="0" dirty="0">
                <a:effectLst/>
                <a:latin typeface="quote-cjk-patch"/>
              </a:rPr>
            </a:br>
            <a:r>
              <a:rPr lang="pt-BR" b="1" i="0" dirty="0" err="1">
                <a:effectLst/>
                <a:latin typeface="quote-cjk-patch"/>
              </a:rPr>
              <a:t>Precio</a:t>
            </a:r>
            <a:r>
              <a:rPr lang="pt-BR" b="1" i="0" dirty="0">
                <a:effectLst/>
                <a:latin typeface="quote-cjk-patch"/>
              </a:rPr>
              <a:t>:</a:t>
            </a:r>
            <a:r>
              <a:rPr lang="pt-BR" b="0" i="0" dirty="0">
                <a:effectLst/>
                <a:latin typeface="quote-cjk-patch"/>
              </a:rPr>
              <a:t> 67.61 €</a:t>
            </a:r>
            <a:br>
              <a:rPr lang="pt-BR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5140A6-E2DD-4378-8275-0CE576AD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246" y="1871133"/>
            <a:ext cx="9603275" cy="4148667"/>
          </a:xfrm>
        </p:spPr>
        <p:txBody>
          <a:bodyPr numCol="2">
            <a:normAutofit/>
          </a:bodyPr>
          <a:lstStyle/>
          <a:p>
            <a:pPr algn="l"/>
            <a:r>
              <a:rPr lang="es-ES" b="1" i="0" dirty="0">
                <a:effectLst/>
                <a:latin typeface="quote-cjk-patch"/>
              </a:rPr>
              <a:t>Características principales: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Micro ATX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Soporta 14, 13 y 12 generación de Intel 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Dos ranuras que soportan RAM DDR4 (dual </a:t>
            </a:r>
            <a:r>
              <a:rPr lang="es-ES" b="0" i="0" dirty="0" err="1">
                <a:effectLst/>
                <a:latin typeface="quote-cjk-patch"/>
              </a:rPr>
              <a:t>channel</a:t>
            </a:r>
            <a:r>
              <a:rPr lang="es-ES" b="0" i="0" dirty="0">
                <a:effectLst/>
                <a:latin typeface="quote-cjk-patch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1 PCIe 4.0 x16 y 1 PCIe 3.0 x1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Cuenta con HDMI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Puertos: 2 SATA3 / 3 USB 3.2 Gen1 / 1 M.2</a:t>
            </a:r>
          </a:p>
          <a:p>
            <a:pPr algn="l"/>
            <a:r>
              <a:rPr lang="es-ES" b="1" i="0" dirty="0">
                <a:effectLst/>
                <a:latin typeface="quote-cjk-patch"/>
              </a:rPr>
              <a:t>Justificación (oficina):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Económica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Socket y chipset compatible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Ranuras de RAM DDR4 (dual </a:t>
            </a:r>
            <a:r>
              <a:rPr lang="es-ES" b="0" i="0" dirty="0" err="1">
                <a:effectLst/>
                <a:latin typeface="quote-cjk-patch"/>
              </a:rPr>
              <a:t>channel</a:t>
            </a:r>
            <a:r>
              <a:rPr lang="es-ES" b="0" i="0" dirty="0">
                <a:effectLst/>
                <a:latin typeface="quote-cjk-patch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Puertos SATA y ranura M.2 para más velocidad de forma económica</a:t>
            </a:r>
          </a:p>
          <a:p>
            <a:pPr marL="0" indent="0" algn="l">
              <a:buNone/>
            </a:pPr>
            <a:endParaRPr lang="es-ES" b="0" i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23213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D48D5-6127-4A36-9E57-999DB03F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08185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pt-BR" b="1" i="0" dirty="0">
                <a:effectLst/>
                <a:latin typeface="quote-cjk-patch"/>
              </a:rPr>
              <a:t>MEMORIA RAM</a:t>
            </a:r>
            <a:br>
              <a:rPr lang="pt-BR" b="0" i="0" dirty="0">
                <a:effectLst/>
                <a:latin typeface="quote-cjk-patch"/>
              </a:rPr>
            </a:br>
            <a:r>
              <a:rPr lang="pt-BR" b="1" i="0" dirty="0">
                <a:effectLst/>
                <a:latin typeface="quote-cjk-patch"/>
              </a:rPr>
              <a:t>Modelo:</a:t>
            </a:r>
            <a:r>
              <a:rPr lang="pt-BR" b="0" i="0" dirty="0">
                <a:effectLst/>
                <a:latin typeface="quote-cjk-patch"/>
              </a:rPr>
              <a:t> Kingston 16 GB (2x8 GB) DDR4-3200</a:t>
            </a:r>
            <a:br>
              <a:rPr lang="pt-BR" b="0" i="0" dirty="0">
                <a:effectLst/>
                <a:latin typeface="quote-cjk-patch"/>
              </a:rPr>
            </a:br>
            <a:r>
              <a:rPr lang="pt-BR" b="1" i="0" dirty="0" err="1">
                <a:effectLst/>
                <a:latin typeface="quote-cjk-patch"/>
              </a:rPr>
              <a:t>Precio</a:t>
            </a:r>
            <a:r>
              <a:rPr lang="pt-BR" b="1" i="0" dirty="0">
                <a:effectLst/>
                <a:latin typeface="quote-cjk-patch"/>
              </a:rPr>
              <a:t>:</a:t>
            </a:r>
            <a:r>
              <a:rPr lang="pt-BR" b="0" i="0" dirty="0">
                <a:effectLst/>
                <a:latin typeface="quote-cjk-patch"/>
              </a:rPr>
              <a:t> 164.95 €</a:t>
            </a:r>
            <a:br>
              <a:rPr lang="pt-BR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8BE21-545C-45C0-9D48-33FCFA3CB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62668"/>
            <a:ext cx="9603275" cy="3603678"/>
          </a:xfrm>
        </p:spPr>
        <p:txBody>
          <a:bodyPr numCol="2"/>
          <a:lstStyle/>
          <a:p>
            <a:pPr algn="l"/>
            <a:r>
              <a:rPr lang="es-ES" b="1" i="0" dirty="0">
                <a:effectLst/>
                <a:latin typeface="quote-cjk-patch"/>
              </a:rPr>
              <a:t>Características principales: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DDR4 (para tareas ofimáticas es potencia de sobra y más económica)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La placa base no soporta DDR5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Soporta velocidades de hasta 3.200 </a:t>
            </a:r>
            <a:r>
              <a:rPr lang="es-ES" b="0" i="0" dirty="0" err="1">
                <a:effectLst/>
                <a:latin typeface="quote-cjk-patch"/>
              </a:rPr>
              <a:t>Mhz</a:t>
            </a:r>
            <a:r>
              <a:rPr lang="es-ES" b="0" i="0" dirty="0">
                <a:effectLst/>
                <a:latin typeface="quote-cjk-patch"/>
              </a:rPr>
              <a:t> con perfiles XMP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>
                <a:latin typeface="quote-cjk-patch"/>
              </a:rPr>
              <a:t>La placa Base es compatible con ddr4 y soporta dual </a:t>
            </a:r>
            <a:r>
              <a:rPr lang="es-ES" dirty="0" err="1">
                <a:latin typeface="quote-cjk-patch"/>
              </a:rPr>
              <a:t>channel</a:t>
            </a:r>
            <a:endParaRPr lang="es-ES" b="0" i="0" dirty="0">
              <a:effectLst/>
              <a:latin typeface="quote-cjk-patch"/>
            </a:endParaRPr>
          </a:p>
          <a:p>
            <a:pPr algn="l"/>
            <a:r>
              <a:rPr lang="es-ES" b="1" i="0" dirty="0">
                <a:effectLst/>
                <a:latin typeface="quote-cjk-patch"/>
              </a:rPr>
              <a:t>Justificación (oficina):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Mejor opción y más económica DDR4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Actualmente el precio podría ser más económico pero hay demasiada demanda</a:t>
            </a:r>
          </a:p>
          <a:p>
            <a:pPr marL="0" indent="0" algn="l">
              <a:buNone/>
            </a:pPr>
            <a:endParaRPr lang="es-ES" b="0" i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71971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A0942-BF78-4658-B3FA-2C177CE6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7" y="474133"/>
            <a:ext cx="9877987" cy="1642087"/>
          </a:xfrm>
        </p:spPr>
        <p:txBody>
          <a:bodyPr>
            <a:normAutofit fontScale="90000"/>
          </a:bodyPr>
          <a:lstStyle/>
          <a:p>
            <a:r>
              <a:rPr lang="es-ES" b="1" i="0" dirty="0">
                <a:effectLst/>
                <a:latin typeface="quote-cjk-patch"/>
              </a:rPr>
              <a:t>ALMACENAMIENTO SSD</a:t>
            </a:r>
            <a:br>
              <a:rPr lang="es-ES" b="0" i="0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Modelo:</a:t>
            </a:r>
            <a:r>
              <a:rPr lang="es-ES" b="0" i="0" dirty="0">
                <a:effectLst/>
                <a:latin typeface="quote-cjk-patch"/>
              </a:rPr>
              <a:t> SanDisk SSD PLUS M.2 </a:t>
            </a:r>
            <a:r>
              <a:rPr lang="es-ES" b="0" i="0" dirty="0" err="1">
                <a:effectLst/>
                <a:latin typeface="quote-cjk-patch"/>
              </a:rPr>
              <a:t>NVMe</a:t>
            </a:r>
            <a:r>
              <a:rPr lang="es-ES" b="0" i="0" dirty="0">
                <a:effectLst/>
                <a:latin typeface="quote-cjk-patch"/>
              </a:rPr>
              <a:t> PCIe Gen 3.0 - 250 GB</a:t>
            </a:r>
            <a:br>
              <a:rPr lang="es-ES" b="0" i="0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Precio:</a:t>
            </a:r>
            <a:r>
              <a:rPr lang="es-ES" b="0" i="0" dirty="0">
                <a:effectLst/>
                <a:latin typeface="quote-cjk-patch"/>
              </a:rPr>
              <a:t> 60.98 €</a:t>
            </a:r>
            <a:br>
              <a:rPr lang="es-ES" b="0" i="0" dirty="0">
                <a:effectLst/>
                <a:latin typeface="quote-cjk-patch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D52D21-429A-490F-85FF-AC065A97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3" y="2015732"/>
            <a:ext cx="9767921" cy="3450613"/>
          </a:xfrm>
        </p:spPr>
        <p:txBody>
          <a:bodyPr numCol="2"/>
          <a:lstStyle/>
          <a:p>
            <a:pPr algn="l"/>
            <a:r>
              <a:rPr lang="es-ES" b="1" i="0" dirty="0">
                <a:effectLst/>
                <a:latin typeface="quote-cjk-patch"/>
              </a:rPr>
              <a:t>Características principales: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Velocidad de lectura: 2200 MB/s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Velocidad de escritura: 1600 MB/s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Versión </a:t>
            </a:r>
            <a:r>
              <a:rPr lang="es-ES" b="0" i="0" dirty="0" err="1">
                <a:effectLst/>
                <a:latin typeface="quote-cjk-patch"/>
              </a:rPr>
              <a:t>NVMe</a:t>
            </a:r>
            <a:r>
              <a:rPr lang="es-ES" b="0" i="0" dirty="0">
                <a:effectLst/>
                <a:latin typeface="quote-cjk-patch"/>
              </a:rPr>
              <a:t>: 1.3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s-ES" dirty="0">
              <a:latin typeface="quote-cjk-patch"/>
            </a:endParaRPr>
          </a:p>
          <a:p>
            <a:pPr algn="l"/>
            <a:r>
              <a:rPr lang="es-ES" b="1" i="0" dirty="0">
                <a:effectLst/>
                <a:latin typeface="quote-cjk-patch"/>
              </a:rPr>
              <a:t>Justificación: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La placa base tiene ranura M.2 específica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Menos ruido que un SATA, más ligero, velocidades más altas y económico</a:t>
            </a:r>
          </a:p>
          <a:p>
            <a:pPr algn="l"/>
            <a:r>
              <a:rPr lang="es-ES" b="1" i="0" dirty="0">
                <a:effectLst/>
                <a:latin typeface="quote-cjk-patch"/>
              </a:rPr>
              <a:t>Compatibilidad:</a:t>
            </a:r>
            <a:r>
              <a:rPr lang="es-ES" b="0" i="0" dirty="0">
                <a:effectLst/>
                <a:latin typeface="quote-cjk-patch"/>
              </a:rPr>
              <a:t> Ranura M.2 de la placa base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effectLst/>
              <a:latin typeface="quote-cjk-patch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145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F7540-D78A-49BF-8FCE-E3E2A651A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25119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s-ES" b="1" i="0" dirty="0">
                <a:effectLst/>
                <a:latin typeface="quote-cjk-patch"/>
              </a:rPr>
              <a:t>FUENTE DE ALIMENTACIÓN (PSU)</a:t>
            </a:r>
            <a:br>
              <a:rPr lang="es-ES" b="0" i="0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Modelo:</a:t>
            </a:r>
            <a:r>
              <a:rPr lang="es-ES" b="0" i="0" dirty="0">
                <a:effectLst/>
                <a:latin typeface="quote-cjk-patch"/>
              </a:rPr>
              <a:t> </a:t>
            </a:r>
            <a:r>
              <a:rPr lang="es-ES" b="0" i="0" dirty="0" err="1">
                <a:effectLst/>
                <a:latin typeface="quote-cjk-patch"/>
              </a:rPr>
              <a:t>Corsair</a:t>
            </a:r>
            <a:r>
              <a:rPr lang="es-ES" b="0" i="0" dirty="0">
                <a:effectLst/>
                <a:latin typeface="quote-cjk-patch"/>
              </a:rPr>
              <a:t> CX750 750 W 80 Plus </a:t>
            </a:r>
            <a:r>
              <a:rPr lang="es-ES" b="0" i="0" dirty="0" err="1">
                <a:effectLst/>
                <a:latin typeface="quote-cjk-patch"/>
              </a:rPr>
              <a:t>Bronze</a:t>
            </a:r>
            <a:br>
              <a:rPr lang="es-ES" b="0" i="0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Precio:</a:t>
            </a:r>
            <a:r>
              <a:rPr lang="es-ES" b="0" i="0" dirty="0">
                <a:effectLst/>
                <a:latin typeface="quote-cjk-patch"/>
              </a:rPr>
              <a:t> 64.95 €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6DDB4-7FF6-406F-9E0A-9A6F2109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2877999"/>
          </a:xfrm>
        </p:spPr>
        <p:txBody>
          <a:bodyPr numCol="2">
            <a:normAutofit fontScale="55000" lnSpcReduction="20000"/>
          </a:bodyPr>
          <a:lstStyle/>
          <a:p>
            <a:pPr algn="l"/>
            <a:r>
              <a:rPr lang="es-ES" sz="3300" b="1" i="0" dirty="0">
                <a:effectLst/>
                <a:latin typeface="quote-cjk-patch"/>
              </a:rPr>
              <a:t>Características principales:</a:t>
            </a:r>
            <a:endParaRPr lang="es-ES" sz="33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300" b="0" i="0" dirty="0">
                <a:effectLst/>
                <a:latin typeface="quote-cjk-patch"/>
              </a:rPr>
              <a:t>Potencia total: 550 W (potencia para rendir lo suficiente)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300" b="0" i="0" dirty="0">
                <a:effectLst/>
                <a:latin typeface="quote-cjk-patch"/>
              </a:rPr>
              <a:t>No modular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300" b="0" i="0" dirty="0">
                <a:effectLst/>
                <a:latin typeface="quote-cjk-patch"/>
              </a:rPr>
              <a:t>Certificación: 80 PLUS </a:t>
            </a:r>
            <a:r>
              <a:rPr lang="es-ES" sz="3300" b="0" i="0" dirty="0" err="1">
                <a:effectLst/>
                <a:latin typeface="quote-cjk-patch"/>
              </a:rPr>
              <a:t>Bronze</a:t>
            </a:r>
            <a:endParaRPr lang="es-ES" sz="33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300" b="0" i="0" dirty="0">
                <a:effectLst/>
                <a:latin typeface="quote-cjk-patch"/>
              </a:rPr>
              <a:t>Fuente ATX</a:t>
            </a:r>
            <a:endParaRPr lang="es-ES" sz="33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endParaRPr lang="es-ES" sz="33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300" b="0" i="0" dirty="0">
                <a:effectLst/>
                <a:latin typeface="quote-cjk-patch"/>
              </a:rPr>
              <a:t>Compatible con chasis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300" b="0" i="0" dirty="0">
                <a:effectLst/>
                <a:latin typeface="quote-cjk-patch"/>
              </a:rPr>
              <a:t>Potencia de sobra para alimentar todos los componentes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300" b="0" i="0" dirty="0">
                <a:effectLst/>
                <a:latin typeface="quote-cjk-patch"/>
              </a:rPr>
              <a:t>Económica y silenciosa</a:t>
            </a:r>
          </a:p>
          <a:p>
            <a:pPr algn="l"/>
            <a:r>
              <a:rPr lang="es-ES" sz="3300" b="1" i="0" dirty="0">
                <a:effectLst/>
                <a:latin typeface="quote-cjk-patch"/>
              </a:rPr>
              <a:t>Compatibilidad:</a:t>
            </a:r>
            <a:r>
              <a:rPr lang="es-ES" sz="3300" b="0" i="0" dirty="0">
                <a:effectLst/>
                <a:latin typeface="quote-cjk-patch"/>
              </a:rPr>
              <a:t> Formato ATX compatible con chasis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effectLst/>
              <a:latin typeface="quote-cjk-patch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485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864B5-BC1F-47F7-8642-1C6FE33C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25119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s-ES" b="1" i="0" dirty="0">
                <a:effectLst/>
                <a:latin typeface="quote-cjk-patch"/>
              </a:rPr>
              <a:t>CHASIS</a:t>
            </a:r>
            <a:br>
              <a:rPr lang="es-ES" b="0" i="0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Modelo:</a:t>
            </a:r>
            <a:r>
              <a:rPr lang="es-ES" b="0" i="0" dirty="0">
                <a:effectLst/>
                <a:latin typeface="quote-cjk-patch"/>
              </a:rPr>
              <a:t> </a:t>
            </a:r>
            <a:r>
              <a:rPr lang="es-ES" b="0" i="0" dirty="0" err="1">
                <a:effectLst/>
                <a:latin typeface="quote-cjk-patch"/>
              </a:rPr>
              <a:t>Nox</a:t>
            </a:r>
            <a:r>
              <a:rPr lang="es-ES" b="0" i="0" dirty="0">
                <a:effectLst/>
                <a:latin typeface="quote-cjk-patch"/>
              </a:rPr>
              <a:t> </a:t>
            </a:r>
            <a:r>
              <a:rPr lang="es-ES" b="0" i="0" dirty="0" err="1">
                <a:effectLst/>
                <a:latin typeface="quote-cjk-patch"/>
              </a:rPr>
              <a:t>Hummer</a:t>
            </a:r>
            <a:r>
              <a:rPr lang="es-ES" b="0" i="0" dirty="0">
                <a:effectLst/>
                <a:latin typeface="quote-cjk-patch"/>
              </a:rPr>
              <a:t> MC USB 3.0 Negra</a:t>
            </a:r>
            <a:br>
              <a:rPr lang="es-ES" b="0" i="0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Precio:</a:t>
            </a:r>
            <a:r>
              <a:rPr lang="es-ES" b="0" i="0" dirty="0">
                <a:effectLst/>
                <a:latin typeface="quote-cjk-patch"/>
              </a:rPr>
              <a:t> 44.99 €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A9D17-AB4D-4F98-A138-8B728D21A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2468"/>
          </a:xfrm>
        </p:spPr>
        <p:txBody>
          <a:bodyPr numCol="2">
            <a:normAutofit fontScale="92500" lnSpcReduction="10000"/>
          </a:bodyPr>
          <a:lstStyle/>
          <a:p>
            <a:pPr algn="l"/>
            <a:r>
              <a:rPr lang="es-ES" b="1" i="0" dirty="0">
                <a:effectLst/>
                <a:latin typeface="quote-cjk-patch"/>
              </a:rPr>
              <a:t>Características principales: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Compatible con placa base y fuente de alimentación escogida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Buena ventilación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algn="l"/>
            <a:endParaRPr lang="es-ES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endParaRPr lang="es-ES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es-ES" b="1" i="0" dirty="0">
                <a:effectLst/>
                <a:latin typeface="quote-cjk-patch"/>
              </a:rPr>
              <a:t>Justificación: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Sencilla y elegante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No ocupa tanto espacio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Fácil de transportar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Habría escogido una torre más pequeña pero la reducción de espacio hace el precio más caro</a:t>
            </a:r>
          </a:p>
          <a:p>
            <a:pPr algn="l"/>
            <a:r>
              <a:rPr lang="es-ES" b="1" i="0" dirty="0">
                <a:effectLst/>
                <a:latin typeface="quote-cjk-patch"/>
              </a:rPr>
              <a:t>Compatibilidad:</a:t>
            </a:r>
            <a:r>
              <a:rPr lang="es-ES" b="0" i="0" dirty="0">
                <a:effectLst/>
                <a:latin typeface="quote-cjk-patch"/>
              </a:rPr>
              <a:t> Con fuente ATX y placa Micro ATX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420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74CD5-8504-448F-8C84-76F028A87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42420"/>
            <a:ext cx="9603275" cy="1049235"/>
          </a:xfrm>
        </p:spPr>
        <p:txBody>
          <a:bodyPr/>
          <a:lstStyle/>
          <a:p>
            <a:r>
              <a:rPr lang="es-ES" dirty="0"/>
              <a:t>Presupuesto Final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B87D10B-1186-4408-BBAB-98E961842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160788"/>
              </p:ext>
            </p:extLst>
          </p:nvPr>
        </p:nvGraphicFramePr>
        <p:xfrm>
          <a:off x="1371601" y="2016125"/>
          <a:ext cx="3903132" cy="3442494"/>
        </p:xfrm>
        <a:graphic>
          <a:graphicData uri="http://schemas.openxmlformats.org/drawingml/2006/table">
            <a:tbl>
              <a:tblPr/>
              <a:tblGrid>
                <a:gridCol w="1301044">
                  <a:extLst>
                    <a:ext uri="{9D8B030D-6E8A-4147-A177-3AD203B41FA5}">
                      <a16:colId xmlns:a16="http://schemas.microsoft.com/office/drawing/2014/main" val="2887933592"/>
                    </a:ext>
                  </a:extLst>
                </a:gridCol>
                <a:gridCol w="1301044">
                  <a:extLst>
                    <a:ext uri="{9D8B030D-6E8A-4147-A177-3AD203B41FA5}">
                      <a16:colId xmlns:a16="http://schemas.microsoft.com/office/drawing/2014/main" val="3381821806"/>
                    </a:ext>
                  </a:extLst>
                </a:gridCol>
                <a:gridCol w="1301044">
                  <a:extLst>
                    <a:ext uri="{9D8B030D-6E8A-4147-A177-3AD203B41FA5}">
                      <a16:colId xmlns:a16="http://schemas.microsoft.com/office/drawing/2014/main" val="1503998042"/>
                    </a:ext>
                  </a:extLst>
                </a:gridCol>
              </a:tblGrid>
              <a:tr h="290933">
                <a:tc>
                  <a:txBody>
                    <a:bodyPr/>
                    <a:lstStyle/>
                    <a:p>
                      <a:pPr algn="l"/>
                      <a:r>
                        <a:rPr lang="es-ES" sz="1200" b="0">
                          <a:effectLst/>
                          <a:latin typeface="quote-cjk-patch"/>
                        </a:rPr>
                        <a:t>Componente</a:t>
                      </a: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>
                          <a:effectLst/>
                          <a:latin typeface="quote-cjk-patch"/>
                        </a:rPr>
                        <a:t>Modelo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>
                          <a:effectLst/>
                          <a:latin typeface="quote-cjk-patch"/>
                        </a:rPr>
                        <a:t>Precio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121471"/>
                  </a:ext>
                </a:extLst>
              </a:tr>
              <a:tr h="477962"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  <a:latin typeface="quote-cjk-patch"/>
                        </a:rPr>
                        <a:t>CPU</a:t>
                      </a:r>
                      <a:endParaRPr lang="es-ES" sz="1200" b="0" dirty="0">
                        <a:effectLst/>
                        <a:latin typeface="quote-cjk-patch"/>
                      </a:endParaRP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Intel Core i3-14100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89.99 €</a:t>
                      </a:r>
                    </a:p>
                  </a:txBody>
                  <a:tcPr marL="83124" marR="62343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4144"/>
                  </a:ext>
                </a:extLst>
              </a:tr>
              <a:tr h="477962"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  <a:latin typeface="quote-cjk-patch"/>
                        </a:rPr>
                        <a:t>Placa base</a:t>
                      </a:r>
                      <a:endParaRPr lang="es-ES" sz="1200" b="0">
                        <a:effectLst/>
                        <a:latin typeface="quote-cjk-patch"/>
                      </a:endParaRP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ASRock H610M-HVS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67.61 €</a:t>
                      </a:r>
                    </a:p>
                  </a:txBody>
                  <a:tcPr marL="83124" marR="62343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075243"/>
                  </a:ext>
                </a:extLst>
              </a:tr>
              <a:tr h="470818"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  <a:latin typeface="quote-cjk-patch"/>
                        </a:rPr>
                        <a:t>RAM</a:t>
                      </a:r>
                      <a:endParaRPr lang="es-ES" sz="1200" b="0">
                        <a:effectLst/>
                        <a:latin typeface="quote-cjk-patch"/>
                      </a:endParaRP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Kingston 16 GB DDR4-3200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effectLst/>
                          <a:latin typeface="quote-cjk-patch"/>
                        </a:rPr>
                        <a:t>164.95 €</a:t>
                      </a:r>
                    </a:p>
                  </a:txBody>
                  <a:tcPr marL="83124" marR="62343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257651"/>
                  </a:ext>
                </a:extLst>
              </a:tr>
              <a:tr h="477962"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  <a:latin typeface="quote-cjk-patch"/>
                        </a:rPr>
                        <a:t>SSD</a:t>
                      </a:r>
                      <a:endParaRPr lang="es-ES" sz="1200" b="0">
                        <a:effectLst/>
                        <a:latin typeface="quote-cjk-patch"/>
                      </a:endParaRP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b="0">
                          <a:effectLst/>
                          <a:latin typeface="quote-cjk-patch"/>
                        </a:rPr>
                        <a:t>SanDisk SSD PLUS M.2 250 GB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60.98 €</a:t>
                      </a:r>
                    </a:p>
                  </a:txBody>
                  <a:tcPr marL="83124" marR="62343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082035"/>
                  </a:ext>
                </a:extLst>
              </a:tr>
              <a:tr h="477962"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  <a:latin typeface="quote-cjk-patch"/>
                        </a:rPr>
                        <a:t>Fuente</a:t>
                      </a:r>
                      <a:endParaRPr lang="es-ES" sz="1200" b="0">
                        <a:effectLst/>
                        <a:latin typeface="quote-cjk-patch"/>
                      </a:endParaRP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Corsair CX750 750W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64.95 €</a:t>
                      </a:r>
                    </a:p>
                  </a:txBody>
                  <a:tcPr marL="83124" marR="62343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095993"/>
                  </a:ext>
                </a:extLst>
              </a:tr>
              <a:tr h="477962"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  <a:latin typeface="quote-cjk-patch"/>
                        </a:rPr>
                        <a:t>Chasis</a:t>
                      </a:r>
                      <a:endParaRPr lang="es-ES" sz="1200" b="0">
                        <a:effectLst/>
                        <a:latin typeface="quote-cjk-patch"/>
                      </a:endParaRP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Nox Hummer MC USB 3.0</a:t>
                      </a: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>
                          <a:effectLst/>
                          <a:latin typeface="quote-cjk-patch"/>
                        </a:rPr>
                        <a:t>44.99 €</a:t>
                      </a:r>
                    </a:p>
                  </a:txBody>
                  <a:tcPr marL="83124" marR="62343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37246"/>
                  </a:ext>
                </a:extLst>
              </a:tr>
              <a:tr h="290933"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  <a:latin typeface="quote-cjk-patch"/>
                        </a:rPr>
                        <a:t>TOTAL</a:t>
                      </a:r>
                      <a:endParaRPr lang="es-ES" sz="1200" b="0">
                        <a:effectLst/>
                        <a:latin typeface="quote-cjk-patch"/>
                      </a:endParaRPr>
                    </a:p>
                  </a:txBody>
                  <a:tcPr marL="62343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s-ES" sz="1200" b="0">
                        <a:effectLst/>
                        <a:latin typeface="quote-cjk-patch"/>
                      </a:endParaRPr>
                    </a:p>
                  </a:txBody>
                  <a:tcPr marL="83124" marR="83124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  <a:latin typeface="quote-cjk-patch"/>
                        </a:rPr>
                        <a:t>493.47 €</a:t>
                      </a:r>
                      <a:endParaRPr lang="es-ES" sz="1200" b="0" dirty="0">
                        <a:effectLst/>
                        <a:latin typeface="quote-cjk-patch"/>
                      </a:endParaRPr>
                    </a:p>
                  </a:txBody>
                  <a:tcPr marL="83124" marR="62343" marT="51952" marB="519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477842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7C5EC0EA-C0CC-46DC-B22C-D068C6F1FB97}"/>
              </a:ext>
            </a:extLst>
          </p:cNvPr>
          <p:cNvSpPr txBox="1"/>
          <p:nvPr/>
        </p:nvSpPr>
        <p:spPr>
          <a:xfrm>
            <a:off x="5579533" y="2159000"/>
            <a:ext cx="3412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0" dirty="0">
                <a:effectLst/>
                <a:latin typeface="quote-cjk-patch"/>
              </a:rPr>
              <a:t>Justificación:</a:t>
            </a:r>
            <a:br>
              <a:rPr lang="es-ES" dirty="0"/>
            </a:br>
            <a:r>
              <a:rPr lang="es-ES" b="0" i="0" dirty="0">
                <a:effectLst/>
                <a:latin typeface="quote-cjk-patch"/>
              </a:rPr>
              <a:t>Se prioriza precio, consumo y posibilidad de ampliación futura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1283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B11C7-96A3-487B-B912-CDD015E7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779" y="342420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  <a:latin typeface="quote-cjk-patch"/>
              </a:rPr>
              <a:t>Diapositiva 7: Mini PC alternativa</a:t>
            </a:r>
            <a:br>
              <a:rPr lang="es-ES" b="1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Producto elegido:</a:t>
            </a:r>
            <a:r>
              <a:rPr lang="es-ES" b="0" i="0" dirty="0">
                <a:effectLst/>
                <a:latin typeface="quote-cjk-patch"/>
              </a:rPr>
              <a:t> MINIX Neo Z95</a:t>
            </a:r>
            <a:br>
              <a:rPr lang="es-ES" b="0" i="0" dirty="0">
                <a:effectLst/>
                <a:latin typeface="quote-cjk-patch"/>
              </a:rPr>
            </a:br>
            <a:r>
              <a:rPr lang="es-ES" b="1" i="0" dirty="0">
                <a:effectLst/>
                <a:latin typeface="quote-cjk-patch"/>
              </a:rPr>
              <a:t>Precio:</a:t>
            </a:r>
            <a:r>
              <a:rPr lang="es-ES" b="0" i="0" dirty="0">
                <a:effectLst/>
                <a:latin typeface="quote-cjk-patch"/>
              </a:rPr>
              <a:t> 345 €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797851-806F-4EC0-AE54-EAEFF9F94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b="1" i="0" dirty="0">
                <a:effectLst/>
                <a:latin typeface="quote-cjk-patch"/>
              </a:rPr>
              <a:t>Especificaciones:</a:t>
            </a:r>
            <a:endParaRPr lang="es-E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quote-cjk-patch"/>
              </a:rPr>
              <a:t>CPU:</a:t>
            </a:r>
            <a:r>
              <a:rPr lang="es-ES" b="0" i="0" dirty="0">
                <a:effectLst/>
                <a:latin typeface="quote-cjk-patch"/>
              </a:rPr>
              <a:t> Intel N95 (4 núcleos, 4 hilos, hasta 3.4 GHz)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quote-cjk-patch"/>
              </a:rPr>
              <a:t>RAM:</a:t>
            </a:r>
            <a:r>
              <a:rPr lang="es-ES" b="0" i="0" dirty="0">
                <a:effectLst/>
                <a:latin typeface="quote-cjk-patch"/>
              </a:rPr>
              <a:t> 16 GB LPDDR5X (soldada, no ampliable)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quote-cjk-patch"/>
              </a:rPr>
              <a:t>Almacenamiento:</a:t>
            </a:r>
            <a:r>
              <a:rPr lang="es-ES" b="0" i="0" dirty="0">
                <a:effectLst/>
                <a:latin typeface="quote-cjk-patch"/>
              </a:rPr>
              <a:t> 512 GB SSD PCIe 3.0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quote-cjk-patch"/>
              </a:rPr>
              <a:t>Conectividad:</a:t>
            </a:r>
            <a:r>
              <a:rPr lang="es-ES" b="0" i="0" dirty="0">
                <a:effectLst/>
                <a:latin typeface="quote-cjk-patch"/>
              </a:rPr>
              <a:t> 3 USB 3.2 / 2 HDMI / 1 DisplayPort / 2 Ethernet / 1 Audio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4800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C1475-8122-407A-93D6-6F2249DF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y desventajas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4F8C66E-4CD2-482D-9469-9F02DF84A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622021"/>
              </p:ext>
            </p:extLst>
          </p:nvPr>
        </p:nvGraphicFramePr>
        <p:xfrm>
          <a:off x="3388042" y="2049304"/>
          <a:ext cx="5730240" cy="3931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355745062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4283138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 dirty="0">
                          <a:effectLst/>
                        </a:rPr>
                        <a:t>Ventajas</a:t>
                      </a:r>
                      <a:endParaRPr lang="es-E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b="0" dirty="0">
                          <a:effectLst/>
                        </a:rPr>
                        <a:t>Desventajas</a:t>
                      </a:r>
                      <a:endParaRPr lang="es-E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0001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</a:rPr>
                        <a:t>Precio más bajo que el montado por piezas</a:t>
                      </a:r>
                      <a:endParaRPr lang="es-E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</a:rPr>
                        <a:t>Rendimiento inferior al PC montado</a:t>
                      </a:r>
                      <a:endParaRPr lang="es-E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05674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b="0" dirty="0">
                          <a:effectLst/>
                        </a:rPr>
                        <a:t>Viene montado con Sistema Operativo preinstalado</a:t>
                      </a:r>
                      <a:endParaRPr lang="it-IT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</a:rPr>
                        <a:t>RAM soldada (no ampliable)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42350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</a:rPr>
                        <a:t>Muy pequeño en tamaño</a:t>
                      </a:r>
                      <a:endParaRPr lang="es-E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  <a:latin typeface="quote-cjk-patch"/>
                        </a:rPr>
                        <a:t>Si se queda corto reemplazarlo entero por cuello de botella con RAM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50769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</a:rPr>
                        <a:t>Consume muy poca electricidad</a:t>
                      </a:r>
                      <a:endParaRPr lang="es-E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endParaRPr lang="es-E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50438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</a:rPr>
                        <a:t>Buena conectividad</a:t>
                      </a:r>
                      <a:endParaRPr lang="es-E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179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762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2F1EF-AAAD-4FE1-97C3-9F722352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Comparación final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788E94D-57E8-48C8-9D7B-C956A334E1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164961"/>
              </p:ext>
            </p:extLst>
          </p:nvPr>
        </p:nvGraphicFramePr>
        <p:xfrm>
          <a:off x="2582333" y="1962915"/>
          <a:ext cx="6477000" cy="38875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69931013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2905045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622517256"/>
                    </a:ext>
                  </a:extLst>
                </a:gridCol>
              </a:tblGrid>
              <a:tr h="569269">
                <a:tc>
                  <a:txBody>
                    <a:bodyPr/>
                    <a:lstStyle/>
                    <a:p>
                      <a:pPr algn="l"/>
                      <a:r>
                        <a:rPr lang="es-ES" sz="1300" b="0" dirty="0">
                          <a:effectLst/>
                        </a:rPr>
                        <a:t>Aspecto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effectLst/>
                        </a:rPr>
                        <a:t>Opción A (por piezas)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effectLst/>
                        </a:rPr>
                        <a:t>Opción B (Mini PC)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extLst>
                  <a:ext uri="{0D108BD9-81ED-4DB2-BD59-A6C34878D82A}">
                    <a16:rowId xmlns:a16="http://schemas.microsoft.com/office/drawing/2014/main" val="4016567593"/>
                  </a:ext>
                </a:extLst>
              </a:tr>
              <a:tr h="346929"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Precio total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490 €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345 €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87889" marR="65917" marT="54931" marB="54931" anchor="ctr"/>
                </a:tc>
                <a:extLst>
                  <a:ext uri="{0D108BD9-81ED-4DB2-BD59-A6C34878D82A}">
                    <a16:rowId xmlns:a16="http://schemas.microsoft.com/office/drawing/2014/main" val="1797795308"/>
                  </a:ext>
                </a:extLst>
              </a:tr>
              <a:tr h="569269"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Rendimiento (oficina)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Rendimiento de sobra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Rendimiento justo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65917" marT="54931" marB="54931" anchor="ctr"/>
                </a:tc>
                <a:extLst>
                  <a:ext uri="{0D108BD9-81ED-4DB2-BD59-A6C34878D82A}">
                    <a16:rowId xmlns:a16="http://schemas.microsoft.com/office/drawing/2014/main" val="3660582394"/>
                  </a:ext>
                </a:extLst>
              </a:tr>
              <a:tr h="346929"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Ampliación RAM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Sí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No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65917" marT="54931" marB="54931" anchor="ctr"/>
                </a:tc>
                <a:extLst>
                  <a:ext uri="{0D108BD9-81ED-4DB2-BD59-A6C34878D82A}">
                    <a16:rowId xmlns:a16="http://schemas.microsoft.com/office/drawing/2014/main" val="802573671"/>
                  </a:ext>
                </a:extLst>
              </a:tr>
              <a:tr h="346929"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Ampliación SSD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Sí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Sí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65917" marT="54931" marB="54931" anchor="ctr"/>
                </a:tc>
                <a:extLst>
                  <a:ext uri="{0D108BD9-81ED-4DB2-BD59-A6C34878D82A}">
                    <a16:rowId xmlns:a16="http://schemas.microsoft.com/office/drawing/2014/main" val="3277229488"/>
                  </a:ext>
                </a:extLst>
              </a:tr>
              <a:tr h="792026"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Consumo/ruido/espacio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Consume más, más grande, mismo ruido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Consume menos, pequeño, mismo ruido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65917" marT="54931" marB="54931" anchor="ctr"/>
                </a:tc>
                <a:extLst>
                  <a:ext uri="{0D108BD9-81ED-4DB2-BD59-A6C34878D82A}">
                    <a16:rowId xmlns:a16="http://schemas.microsoft.com/office/drawing/2014/main" val="1797567729"/>
                  </a:ext>
                </a:extLst>
              </a:tr>
              <a:tr h="569269"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Facilidad de despliegue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Alta facilidad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Alta facilidad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65917" marT="54931" marB="54931" anchor="ctr"/>
                </a:tc>
                <a:extLst>
                  <a:ext uri="{0D108BD9-81ED-4DB2-BD59-A6C34878D82A}">
                    <a16:rowId xmlns:a16="http://schemas.microsoft.com/office/drawing/2014/main" val="1483967825"/>
                  </a:ext>
                </a:extLst>
              </a:tr>
              <a:tr h="346929"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Garantía/soporte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65917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>
                          <a:effectLst/>
                        </a:rPr>
                        <a:t>Sí</a:t>
                      </a:r>
                      <a:endParaRPr lang="es-ES" sz="1300" b="0">
                        <a:effectLst/>
                        <a:latin typeface="quote-cjk-patch"/>
                      </a:endParaRPr>
                    </a:p>
                  </a:txBody>
                  <a:tcPr marL="87889" marR="87889" marT="54931" marB="54931" anchor="ctr"/>
                </a:tc>
                <a:tc>
                  <a:txBody>
                    <a:bodyPr/>
                    <a:lstStyle/>
                    <a:p>
                      <a:r>
                        <a:rPr lang="es-ES" sz="1300" b="0" dirty="0">
                          <a:effectLst/>
                        </a:rPr>
                        <a:t>Sí</a:t>
                      </a:r>
                      <a:endParaRPr lang="es-ES" sz="1300" b="0" dirty="0">
                        <a:effectLst/>
                        <a:latin typeface="quote-cjk-patch"/>
                      </a:endParaRPr>
                    </a:p>
                  </a:txBody>
                  <a:tcPr marL="87889" marR="65917" marT="54931" marB="54931" anchor="ctr"/>
                </a:tc>
                <a:extLst>
                  <a:ext uri="{0D108BD9-81ED-4DB2-BD59-A6C34878D82A}">
                    <a16:rowId xmlns:a16="http://schemas.microsoft.com/office/drawing/2014/main" val="69768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9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DDB9E-D96B-49BD-A85C-9D0C258F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F9168D-8C7C-4302-872D-8C2BA7C63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265786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s-ES" b="0" i="0" dirty="0">
                <a:effectLst/>
                <a:latin typeface="quote-cjk-patch"/>
              </a:rPr>
              <a:t>La opción del PC montado por piezas, porque aunque sea más grande y consuma más energía: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Todos los componentes son reemplazables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A largo plazo sale más rentable económicamente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Mayor rendimiento para tareas ofimáticas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Es silencioso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Los componentes son totalmente compatibles entre sí y con la tarea a realizar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23BC2F-5CFD-4216-9B86-C791C79305F6}"/>
              </a:ext>
            </a:extLst>
          </p:cNvPr>
          <p:cNvSpPr txBox="1"/>
          <p:nvPr/>
        </p:nvSpPr>
        <p:spPr>
          <a:xfrm>
            <a:off x="1537283" y="4634915"/>
            <a:ext cx="1046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>
                <a:latin typeface="quote-cjk-patch"/>
              </a:rPr>
              <a:t>Opinión personal:</a:t>
            </a:r>
          </a:p>
          <a:p>
            <a:r>
              <a:rPr lang="es-ES" b="0" i="0" dirty="0">
                <a:effectLst/>
                <a:latin typeface="quote-cjk-patch"/>
              </a:rPr>
              <a:t>Primero va a ser más caro el PC montado por piezas, pero a la larga sale más rentable económicamente.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324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C5417-BA3B-41C7-AC0A-9CB91616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Aprendizaje sobre compatibilidad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CF20F5-AC5A-4DC2-AA8A-EEA2D2957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El chipset y el socket deben encajar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Dimensiones de la placa base y fuente respecto al chasis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Ranuras de RAM para no hacer cuello de botella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Importante ranura M.2 para mayor velocidad y eficiencia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Conectores compatibles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quote-cjk-patch"/>
              </a:rPr>
              <a:t>Buena ventilación del chasis compatible con los componentes</a:t>
            </a:r>
          </a:p>
        </p:txBody>
      </p:sp>
    </p:spTree>
    <p:extLst>
      <p:ext uri="{BB962C8B-B14F-4D97-AF65-F5344CB8AC3E}">
        <p14:creationId xmlns:p14="http://schemas.microsoft.com/office/powerpoint/2010/main" val="410511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C479B-1BA4-4AB4-83AB-2EB1349A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4853"/>
            <a:ext cx="9603275" cy="1049235"/>
          </a:xfrm>
        </p:spPr>
        <p:txBody>
          <a:bodyPr/>
          <a:lstStyle/>
          <a:p>
            <a:pPr algn="ctr"/>
            <a:r>
              <a:rPr lang="es-ES" u="sng" dirty="0" err="1"/>
              <a:t>URLs</a:t>
            </a:r>
            <a:endParaRPr lang="es-ES" u="sng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A2E433-A9B6-4C2B-BDEA-68852D46F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041401"/>
            <a:ext cx="9603275" cy="4568878"/>
          </a:xfrm>
        </p:spPr>
        <p:txBody>
          <a:bodyPr>
            <a:normAutofit fontScale="92500" lnSpcReduction="10000"/>
          </a:bodyPr>
          <a:lstStyle/>
          <a:p>
            <a:r>
              <a:rPr lang="es-ES" b="1" u="sng" dirty="0"/>
              <a:t>Procesador: </a:t>
            </a:r>
            <a:r>
              <a:rPr lang="es-ES" sz="1100" dirty="0">
                <a:hlinkClick r:id="rId2"/>
              </a:rPr>
              <a:t>https://www.pccomponentes.com/intel-core-i3-14100f-35-47ghz-box?s_kwcid=AL!14405!3!!!!x!!&amp;gad_source=1&amp;gad_campaignid=22157318807&amp;gclid=CjwKCAiAwNDMBhBfEiwAd7ti1EfedmOUrR0GZ7o9KX_Gtz4OCSM1ywHikWvJA9hpBQ66qpsw5DSinhoCeK8QAvD_BwE</a:t>
            </a:r>
            <a:endParaRPr lang="es-ES" sz="1100" dirty="0"/>
          </a:p>
          <a:p>
            <a:r>
              <a:rPr lang="es-ES" b="1" u="sng" dirty="0"/>
              <a:t>Placa Base: </a:t>
            </a:r>
            <a:r>
              <a:rPr lang="es-ES" sz="1100" dirty="0">
                <a:hlinkClick r:id="rId3"/>
              </a:rPr>
              <a:t>https://www.pccomponentes.com/asrock-h610m-hvs-m2-r20?s_kwcid=AL!14405!3!!!!x!!&amp;gad_source=1&amp;gad_campaignid=22157318807&amp;gclid=CjwKCAiAwNDMBhBfEiwAd7ti1NOrIapzbvveJL2FOld2Yq7yXB83N2ynIT64TJameGn1Yxis-t4pexoCVKIQAvD_BwE</a:t>
            </a:r>
            <a:endParaRPr lang="es-ES" sz="1100" dirty="0"/>
          </a:p>
          <a:p>
            <a:r>
              <a:rPr lang="es-ES" b="1" u="sng" dirty="0"/>
              <a:t>RAM: </a:t>
            </a:r>
            <a:r>
              <a:rPr lang="es-ES" sz="1100" b="1" u="sng" dirty="0">
                <a:hlinkClick r:id="rId4"/>
              </a:rPr>
              <a:t>https://www.pccomponentes.com/kingston-fury-beast-ddr4-3200-mhz-16gb-2x8gb-cl16?s_kwcid=AL!14405!3!!!!x!!&amp;gad_source=1&amp;gad_campaignid=22732311568&amp;gclid=CjwKCAiAwNDMBhBfEiwAd7ti1G5Z49KzG-dIKlG0cd6DEG3tQwzvIYntNq4kLMwoiAEnLNVJE84PuhoCiTwQAvD_BwE</a:t>
            </a:r>
            <a:endParaRPr lang="es-ES" sz="1100" b="1" u="sng" dirty="0"/>
          </a:p>
          <a:p>
            <a:r>
              <a:rPr lang="es-ES" b="1" u="sng" dirty="0"/>
              <a:t>Disco Duro: </a:t>
            </a:r>
            <a:r>
              <a:rPr lang="es-ES" sz="1100" b="1" u="sng" dirty="0">
                <a:hlinkClick r:id="rId5"/>
              </a:rPr>
              <a:t>https://www.pccomponentes.com/silicon-power-p34a60-256gb-ssd-m2-pcie-gen3x4?s_kwcid=AL!14405!3!!!!x!!&amp;gad_source=1&amp;gad_campaignid=21438429839&amp;gclid=CjwKCAiAwNDMBhBfEiwAd7ti1Fp9yPSHWHYYawvkSXlmv1wF6Qj0X9QD0JaKTwrYCTUdoxTEOY9qFRoC3tgQAvD_BwE</a:t>
            </a:r>
            <a:endParaRPr lang="es-ES" sz="1100" b="1" u="sng" dirty="0"/>
          </a:p>
          <a:p>
            <a:r>
              <a:rPr lang="es-ES" b="1" u="sng" dirty="0"/>
              <a:t>Fuente </a:t>
            </a:r>
            <a:r>
              <a:rPr lang="es-ES" b="1" u="sng" dirty="0" err="1"/>
              <a:t>Alimentción</a:t>
            </a:r>
            <a:r>
              <a:rPr lang="es-ES" b="1" u="sng" dirty="0"/>
              <a:t>: </a:t>
            </a:r>
            <a:r>
              <a:rPr lang="es-ES" sz="1100" b="1" u="sng" dirty="0">
                <a:hlinkClick r:id="rId6"/>
              </a:rPr>
              <a:t>https://www.pccomponentes.com/corsair-cx750-750-w-80-plus-bronze?s_kwcid=AL!14405!3!!!!x!!&amp;gad_source=1&amp;gad_campaignid=22732311568&amp;gclid=CjwKCAiAwNDMBhBfEiwAd7ti1FNcKxBaT139VsB3GeFKnzt82_0de2JlABCmO1tgXxyIguyGAP4gPRoC_9UQAvD_BwE</a:t>
            </a:r>
            <a:endParaRPr lang="es-ES" sz="1100" b="1" u="sng" dirty="0"/>
          </a:p>
          <a:p>
            <a:r>
              <a:rPr lang="es-ES" sz="2100" b="1" u="sng" dirty="0"/>
              <a:t>Chasis: </a:t>
            </a:r>
            <a:r>
              <a:rPr lang="es-ES" sz="1100" b="1" u="sng" dirty="0">
                <a:hlinkClick r:id="rId7"/>
              </a:rPr>
              <a:t>https://www.pccomponentes.com/nox-hummer-mc-usb-30-negra?srsltid=AfmBOoo90xkzr4Qj1KZ4Jyl8CFdblg1I29gitrwqR6GWxtIfsVaMgxhY</a:t>
            </a:r>
            <a:endParaRPr lang="es-ES" sz="1100" b="1" u="sng" dirty="0"/>
          </a:p>
          <a:p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208932171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{F3786A0A-1F43-413A-B9E0-E810D53E8200}TFc986dd65-aaf0-4d5c-bef9-9c391ee05f7b6a80d193-c6c005e2f19e</Template>
  <TotalTime>26</TotalTime>
  <Words>1173</Words>
  <Application>Microsoft Office PowerPoint</Application>
  <PresentationFormat>Panorámica</PresentationFormat>
  <Paragraphs>171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quote-cjk-patch</vt:lpstr>
      <vt:lpstr>Galería</vt:lpstr>
      <vt:lpstr>Alumno: Alfonso Giménez Martínez Grupo: 1° ASIR Fecha: 17/02/2026</vt:lpstr>
      <vt:lpstr>Objetivo principal: Diseñar un PC de oficina low-cost y compararlo con un Mini PC comercial</vt:lpstr>
      <vt:lpstr>Modelo: Intel Core i3-14100 Precio: 89.99 € </vt:lpstr>
      <vt:lpstr>PLACA BASE Modelo: ASRock H610M-HVS Precio: 67.61 € </vt:lpstr>
      <vt:lpstr>MEMORIA RAM Modelo: Kingston 16 GB (2x8 GB) DDR4-3200 Precio: 164.95 € </vt:lpstr>
      <vt:lpstr>ALMACENAMIENTO SSD Modelo: SanDisk SSD PLUS M.2 NVMe PCIe Gen 3.0 - 250 GB Precio: 60.98 € </vt:lpstr>
      <vt:lpstr>FUENTE DE ALIMENTACIÓN (PSU) Modelo: Corsair CX750 750 W 80 Plus Bronze Precio: 64.95 € </vt:lpstr>
      <vt:lpstr>CHASIS Modelo: Nox Hummer MC USB 3.0 Negra Precio: 44.99 € </vt:lpstr>
      <vt:lpstr>Presupuesto Final</vt:lpstr>
      <vt:lpstr>Diapositiva 7: Mini PC alternativa Producto elegido: MINIX Neo Z95 Precio: 345 € </vt:lpstr>
      <vt:lpstr>Ventajas y desventajas</vt:lpstr>
      <vt:lpstr>Comparación final</vt:lpstr>
      <vt:lpstr>Conclusión final</vt:lpstr>
      <vt:lpstr>Aprendizaje sobre compatibilidad</vt:lpstr>
      <vt:lpstr>URLs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Alumno: Alfonso Giménez Martínez Grupo: 1° ASIR Fecha: 17/02/2026</dc:title>
  <dc:creator>Alfonso</dc:creator>
  <cp:lastModifiedBy>Alfonso</cp:lastModifiedBy>
  <cp:revision>5</cp:revision>
  <dcterms:created xsi:type="dcterms:W3CDTF">2026-02-18T12:35:46Z</dcterms:created>
  <dcterms:modified xsi:type="dcterms:W3CDTF">2026-02-19T11:52:06Z</dcterms:modified>
</cp:coreProperties>
</file>